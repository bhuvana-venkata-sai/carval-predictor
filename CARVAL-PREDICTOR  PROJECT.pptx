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4" r:id="rId16"/>
    <p:sldId id="268" r:id="rId17"/>
    <p:sldId id="272" r:id="rId18"/>
    <p:sldId id="269" r:id="rId19"/>
    <p:sldId id="270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57433f-399b-f206-b1ed-faf30609b5ef}">
          <p14:sldIdLst>
            <p14:sldId id="256"/>
            <p14:sldId id="257"/>
          </p14:sldIdLst>
        </p14:section>
        <p14:section name="Data" id="{abc32226-2481-c066-321e-8c180b37e305}">
          <p14:sldIdLst>
            <p14:sldId id="258"/>
            <p14:sldId id="259"/>
            <p14:sldId id="260"/>
            <p14:sldId id="261"/>
          </p14:sldIdLst>
        </p14:section>
        <p14:section name="Modeling" id="{8e099f3e-13b9-ee61-ca0e-5cd897f0a775}">
          <p14:sldIdLst>
            <p14:sldId id="262"/>
            <p14:sldId id="263"/>
          </p14:sldIdLst>
        </p14:section>
        <p14:section name="Results" id="{ecb066f3-2274-3cbc-5d59-583fd82a34c9}">
          <p14:sldIdLst>
            <p14:sldId id="264"/>
            <p14:sldId id="265"/>
            <p14:sldId id="266"/>
          </p14:sldIdLst>
        </p14:section>
        <p14:section name="Deployment" id="{e009bcc2-f9bd-381b-389a-46f4ca8700c6}">
          <p14:sldIdLst>
            <p14:sldId id="267"/>
            <p14:sldId id="274"/>
            <p14:sldId id="268"/>
            <p14:sldId id="272"/>
          </p14:sldIdLst>
        </p14:section>
        <p14:section name="Wrap-up" id="{11484ea8-e66e-6c16-e3f7-413809cd397d}">
          <p14:sldIdLst>
            <p14:sldId id="269"/>
            <p14:sldId id="270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the notebook only loads ../Dataset/Car Price.csv and does not name an origin, so it is marked as not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plots are the original notebook outputs (seaborn / matplotlib).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Duplicates: 763 detected by df.duplicated().sum() but never dropped in the notebook. Scaling is fitted on the training split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copied from the notebook results table (cell 19). Random Forest is best before tuning on every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Tuning improved all three metrics slightly. The notebook comment states Tuned Random Forest is the best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Cross-validation (5-fold, original RF, full dataset) averages 0.8093 but fold 5 is only 0.5715, so performance varies by data subset. Test-set R² is 0.6972.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screenshots exist in the repository, so this is a mockup built from the real form fields in Frontend/index.html. No predicted price is shown because none was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7"/>
                </a:solidFill>
              </a:rPr>
              <a:t>CARVAL-PREDICTOR  |  Used Car Price Prediction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github.com/ybifoundation/Dataset/blob/main/Car%20Price.csv?utm_source=chatgpt.com" TargetMode="Externa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3245" y="428625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400" dirty="0">
                <a:solidFill>
                  <a:schemeClr val="tx1"/>
                </a:solidFill>
              </a:rPr>
              <a:t>MACHINE LEARNING PROJECT</a:t>
            </a:r>
            <a:endParaRPr lang="en-US" b="1" kern="0" spc="400" dirty="0">
              <a:solidFill>
                <a:schemeClr val="tx1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63245" y="70612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CARVAL-PREDICTOR</a:t>
            </a:r>
            <a:endParaRPr lang="en-US" sz="54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701675" y="1835785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Used Car Price Prediction Using Machine Learning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01675" y="3566160"/>
            <a:ext cx="4065905" cy="480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41680" y="3429000"/>
            <a:ext cx="5077460" cy="2399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solidFill>
                  <a:schemeClr val="tx1"/>
                </a:solidFill>
              </a:rPr>
              <a:t>TEAM MEMBERS:</a:t>
            </a:r>
            <a:endParaRPr lang="en-US" altLang="en-US" b="1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Santhosh Mavuri,24EU01102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K Bhuvana Venkata Sai,24EU01089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Akshith Muni .K,24EU01130</a:t>
            </a:r>
            <a:endParaRPr lang="en-US" altLang="en-US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110" y="2321560"/>
            <a:ext cx="5952490" cy="351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6035040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Estimating a fair used-car price is difficult: there is no single formula for resale value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Price varies with year, kilometres driven, fuel type, seller type, transmission and owner history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Manual estimates are subjective and can differ from buyer to seller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 data-driven model learns price patterns from 4,340 past records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Machine learning (regression) turns car details into an estimated selling price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0"/>
            <a:ext cx="4233672" cy="4754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0" y="160020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7" name="Image 0" descr="FaCarS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5165" y="17757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35240" y="251460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Car details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288036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Brand · Model · Year · KM driven · Fuel · Seller type · Transmission · Owner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74904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▼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416052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ML regression model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457200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▼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98348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Estimated selling price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&amp; Data Source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2801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481328"/>
            <a:ext cx="1280160" cy="6537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4,340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08606"/>
            <a:ext cx="1097280" cy="4041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rows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920240" y="1371600"/>
            <a:ext cx="12801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920240" y="1481328"/>
            <a:ext cx="1280160" cy="6537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2108606"/>
            <a:ext cx="1097280" cy="4041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columns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12801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291840" y="1481328"/>
            <a:ext cx="1280160" cy="6537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108606"/>
            <a:ext cx="1097280" cy="4041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input features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371600"/>
            <a:ext cx="12801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663440" y="1481328"/>
            <a:ext cx="1280160" cy="6537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108606"/>
            <a:ext cx="1097280" cy="4041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target: Selling_Price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5394960" cy="333756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39445" y="2880360"/>
            <a:ext cx="5075555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 file: </a:t>
            </a:r>
            <a:r>
              <a:rPr lang="en-US" sz="1400" dirty="0">
                <a:solidFill>
                  <a:schemeClr val="tx1"/>
                </a:solidFill>
              </a:rPr>
              <a:t>Car Price.csv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Data source: </a:t>
            </a:r>
            <a:r>
              <a:rPr lang="en-US" sz="1400" b="1" dirty="0">
                <a:solidFill>
                  <a:schemeClr val="tx1"/>
                </a:solidFill>
                <a:hlinkClick r:id="rId1" tooltip="" action="ppaction://hlinkfile"/>
              </a:rPr>
              <a:t>DATASET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Missing values: </a:t>
            </a:r>
            <a:r>
              <a:rPr lang="en-US" sz="1400" dirty="0">
                <a:solidFill>
                  <a:schemeClr val="tx1"/>
                </a:solidFill>
              </a:rPr>
              <a:t>0 in all columns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Year range: </a:t>
            </a:r>
            <a:r>
              <a:rPr lang="en-US" sz="1400" dirty="0">
                <a:solidFill>
                  <a:schemeClr val="tx1"/>
                </a:solidFill>
              </a:rPr>
              <a:t>1992 – 2020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Selling_Price: </a:t>
            </a:r>
            <a:r>
              <a:rPr lang="en-US" sz="1400" dirty="0">
                <a:solidFill>
                  <a:schemeClr val="tx1"/>
                </a:solidFill>
              </a:rPr>
              <a:t>min 20,000 · median 350,000 · mean 504,127 · max 8,900,000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KM_Driven: </a:t>
            </a:r>
            <a:r>
              <a:rPr lang="en-US" sz="1400" dirty="0">
                <a:solidFill>
                  <a:schemeClr val="tx1"/>
                </a:solidFill>
              </a:rPr>
              <a:t>min 1 · median 60,000 · max 806,599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6309360" y="1371600"/>
          <a:ext cx="5330952" cy="45720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673352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Brand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KM_Driven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Fuel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Seller_Type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Transmission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Selling_Price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Exploratory Data Analysis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90448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pic>
        <p:nvPicPr>
          <p:cNvPr id="5" name="Image 0" descr="Notebook output c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4781"/>
            <a:ext cx="3721608" cy="205103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3456432"/>
            <a:ext cx="372160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Distribution of Selling Price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636008" y="1280160"/>
            <a:ext cx="390448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pic>
        <p:nvPicPr>
          <p:cNvPr id="8" name="Image 1" descr="Notebook output c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374781"/>
            <a:ext cx="3721608" cy="20510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27448" y="3456432"/>
            <a:ext cx="3721608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Distribution of Manufacturing Year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723376" y="1280160"/>
            <a:ext cx="3328416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pic>
        <p:nvPicPr>
          <p:cNvPr id="11" name="Image 2" descr="Notebook output c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157" y="1371600"/>
            <a:ext cx="3138854" cy="20574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814816" y="3456432"/>
            <a:ext cx="31455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Year vs Selling Price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48640" y="406908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4" name="Text 8"/>
          <p:cNvSpPr txBox="1"/>
          <p:nvPr/>
        </p:nvSpPr>
        <p:spPr>
          <a:xfrm>
            <a:off x="777240" y="42519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Price is right-skewed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777240" y="470916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Most cars sit at lower prices; a long tail reaches up to 8,900,000.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297680" y="406908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4526280" y="42519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Newer cars dominate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4526280" y="470916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Most listings are from roughly 2010 to 2019; older cars are fewer.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046720" y="406908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8275320" y="42519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Year drives price range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470916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Higher prices appear mainly for newer cars; older cars stay at low prices.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Preprocessing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998878" cy="265176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172455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Raw dataset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1724558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4,340 rows × 9 columns loaded from CSV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47518" y="246888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821838" y="1371600"/>
            <a:ext cx="1998878" cy="265176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58998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2958998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958998" y="1965960"/>
            <a:ext cx="172455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Cleaning checks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958998" y="2331720"/>
            <a:ext cx="1724558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0 missing values; 763 duplicate rows detected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20717" y="246888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095037" y="1371600"/>
            <a:ext cx="1998878" cy="265176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32197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5"/>
          <p:cNvSpPr txBox="1"/>
          <p:nvPr/>
        </p:nvSpPr>
        <p:spPr>
          <a:xfrm>
            <a:off x="5232197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232197" y="1965960"/>
            <a:ext cx="172455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One-hot encoding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232197" y="2331720"/>
            <a:ext cx="1724558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6 categorical columns, drop_first=True: 8 → 1,531 features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093915" y="246888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7368235" y="1371600"/>
            <a:ext cx="1998878" cy="265176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05395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4" name="Text 21"/>
          <p:cNvSpPr txBox="1"/>
          <p:nvPr/>
        </p:nvSpPr>
        <p:spPr>
          <a:xfrm>
            <a:off x="7505395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505395" y="1965960"/>
            <a:ext cx="172455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Train/test split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505395" y="2331720"/>
            <a:ext cx="1724558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80% / 20%, random_state=42: 3,472 train, 868 test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367114" y="246888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28" name="Shape 25"/>
          <p:cNvSpPr/>
          <p:nvPr/>
        </p:nvSpPr>
        <p:spPr>
          <a:xfrm>
            <a:off x="9641434" y="1371600"/>
            <a:ext cx="1998878" cy="265176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778594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30" name="Text 27"/>
          <p:cNvSpPr txBox="1"/>
          <p:nvPr/>
        </p:nvSpPr>
        <p:spPr>
          <a:xfrm>
            <a:off x="9778594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778594" y="1965960"/>
            <a:ext cx="172455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Scaling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778594" y="2331720"/>
            <a:ext cx="1724558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StandardScaler fitted on train; used for Linear Regression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438912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FFF4EC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685800" y="4585335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en-US" sz="1500" dirty="0"/>
              <a:t>763 duplicate rows removed</a:t>
            </a:r>
            <a:endParaRPr lang="en-US" alt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en-US" sz="1500" dirty="0"/>
              <a:t>No missing values — imputation not required</a:t>
            </a:r>
            <a:endParaRPr lang="en-US" alt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Engineering / Selection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Input features (8)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79552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7955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Year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55648" y="2011680"/>
            <a:ext cx="138988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8" name="Text 6"/>
          <p:cNvSpPr txBox="1"/>
          <p:nvPr/>
        </p:nvSpPr>
        <p:spPr>
          <a:xfrm>
            <a:off x="1755648" y="201168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KM_Driven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82696" y="201168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</p:sp>
      <p:sp>
        <p:nvSpPr>
          <p:cNvPr id="10" name="Text 8"/>
          <p:cNvSpPr txBox="1"/>
          <p:nvPr/>
        </p:nvSpPr>
        <p:spPr>
          <a:xfrm>
            <a:off x="3282696" y="2011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Brand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201168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</p:sp>
      <p:sp>
        <p:nvSpPr>
          <p:cNvPr id="12" name="Text 10"/>
          <p:cNvSpPr txBox="1"/>
          <p:nvPr/>
        </p:nvSpPr>
        <p:spPr>
          <a:xfrm>
            <a:off x="4334256" y="2011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85816" y="2011680"/>
            <a:ext cx="795528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</p:sp>
      <p:sp>
        <p:nvSpPr>
          <p:cNvPr id="14" name="Text 12"/>
          <p:cNvSpPr txBox="1"/>
          <p:nvPr/>
        </p:nvSpPr>
        <p:spPr>
          <a:xfrm>
            <a:off x="5385816" y="2011680"/>
            <a:ext cx="7955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Fuel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2606040"/>
            <a:ext cx="1627632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</p:sp>
      <p:sp>
        <p:nvSpPr>
          <p:cNvPr id="16" name="Text 14"/>
          <p:cNvSpPr txBox="1"/>
          <p:nvPr/>
        </p:nvSpPr>
        <p:spPr>
          <a:xfrm>
            <a:off x="822960" y="2606040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Seller_Type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87752" y="2606040"/>
            <a:ext cx="1746504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</p:sp>
      <p:sp>
        <p:nvSpPr>
          <p:cNvPr id="18" name="Text 16"/>
          <p:cNvSpPr txBox="1"/>
          <p:nvPr/>
        </p:nvSpPr>
        <p:spPr>
          <a:xfrm>
            <a:off x="2587752" y="2606040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Transmission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71416" y="2606040"/>
            <a:ext cx="91440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</p:sp>
      <p:sp>
        <p:nvSpPr>
          <p:cNvPr id="20" name="Text 18"/>
          <p:cNvSpPr txBox="1"/>
          <p:nvPr/>
        </p:nvSpPr>
        <p:spPr>
          <a:xfrm>
            <a:off x="4471416" y="26060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Owner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19456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→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8046720" y="137160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21040" y="1600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94A6"/>
                </a:solidFill>
              </a:rPr>
              <a:t>TARGET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0116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Selling_Price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28346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9DEE6"/>
                </a:solidFill>
              </a:rPr>
              <a:t>predicted price of the used car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11091672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Engineered features: none. </a:t>
            </a:r>
            <a:endParaRPr lang="en-US" sz="15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Features removed: none (only the target was separated from X)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One-hot encoding expands the 8 inputs into 1,531 model features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Year vs Selling Price scatter shows newer cars reach higher prices (EDA)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Feature-importance results: Not available in notebook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Machine Learning Models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93592" cy="374904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FaChartL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8214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Linear Regression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Fits a linear relationship between the features and price.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97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Trained on StandardScaler-scaled features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93592" cy="374904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6459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1" name="Image 1" descr="FaSite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18214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560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Decision Tree Regressor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089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Splits the data with learned rules to predict price.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297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random_state=42, other settings default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93592" cy="374904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7" name="Image 2" descr="Fa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182148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560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 Forest Regressor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1089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Averages many decision trees for a more stable prediction.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297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n_estimators=100, random_state=42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FFF4EC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best of these, Random Forest, was then tuned with GridSearchCV (slide 10). Only these three model types were trained.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Training &amp; Evaluation Workflow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349393" cy="2011680"/>
          </a:xfrm>
          <a:prstGeom prst="roundRect">
            <a:avLst>
              <a:gd name="adj" fmla="val 813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1075073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1075073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Car Price.csv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98033" y="214884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172353" y="1371600"/>
            <a:ext cx="1349393" cy="2011680"/>
          </a:xfrm>
          <a:prstGeom prst="roundRect">
            <a:avLst>
              <a:gd name="adj" fmla="val 813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09513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Text 9"/>
          <p:cNvSpPr txBox="1"/>
          <p:nvPr/>
        </p:nvSpPr>
        <p:spPr>
          <a:xfrm>
            <a:off x="2309513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09513" y="1965960"/>
            <a:ext cx="1075073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309513" y="2331720"/>
            <a:ext cx="1075073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One-hot encoding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21746" y="214884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796066" y="1371600"/>
            <a:ext cx="1349393" cy="2011680"/>
          </a:xfrm>
          <a:prstGeom prst="roundRect">
            <a:avLst>
              <a:gd name="adj" fmla="val 813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3226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7" name="Text 15"/>
          <p:cNvSpPr txBox="1"/>
          <p:nvPr/>
        </p:nvSpPr>
        <p:spPr>
          <a:xfrm>
            <a:off x="3933226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33226" y="1965960"/>
            <a:ext cx="1075073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Split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33226" y="2331720"/>
            <a:ext cx="1075073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80% / 20%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45459" y="214884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419779" y="1371600"/>
            <a:ext cx="1349393" cy="2011680"/>
          </a:xfrm>
          <a:prstGeom prst="roundRect">
            <a:avLst>
              <a:gd name="adj" fmla="val 813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56939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3" name="Text 21"/>
          <p:cNvSpPr txBox="1"/>
          <p:nvPr/>
        </p:nvSpPr>
        <p:spPr>
          <a:xfrm>
            <a:off x="5556939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56939" y="1965960"/>
            <a:ext cx="1075073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556939" y="2331720"/>
            <a:ext cx="1075073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LR, DT, RF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9173" y="214884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043493" y="1371600"/>
            <a:ext cx="1349393" cy="2011680"/>
          </a:xfrm>
          <a:prstGeom prst="roundRect">
            <a:avLst>
              <a:gd name="adj" fmla="val 813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80653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9" name="Text 27"/>
          <p:cNvSpPr txBox="1"/>
          <p:nvPr/>
        </p:nvSpPr>
        <p:spPr>
          <a:xfrm>
            <a:off x="7180653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80653" y="1965960"/>
            <a:ext cx="1075073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80653" y="2331720"/>
            <a:ext cx="1075073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868 test rows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92886" y="214884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8667206" y="1371600"/>
            <a:ext cx="1349393" cy="2011680"/>
          </a:xfrm>
          <a:prstGeom prst="roundRect">
            <a:avLst>
              <a:gd name="adj" fmla="val 813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804366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35" name="Text 33"/>
          <p:cNvSpPr txBox="1"/>
          <p:nvPr/>
        </p:nvSpPr>
        <p:spPr>
          <a:xfrm>
            <a:off x="8804366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804366" y="1965960"/>
            <a:ext cx="1075073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804366" y="2331720"/>
            <a:ext cx="1075073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MAE, MSE, RMSE, R²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016599" y="214884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10290919" y="1371600"/>
            <a:ext cx="1349393" cy="2011680"/>
          </a:xfrm>
          <a:prstGeom prst="roundRect">
            <a:avLst>
              <a:gd name="adj" fmla="val 813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428079" y="150876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41" name="Text 39"/>
          <p:cNvSpPr txBox="1"/>
          <p:nvPr/>
        </p:nvSpPr>
        <p:spPr>
          <a:xfrm>
            <a:off x="10428079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428079" y="1965960"/>
            <a:ext cx="1075073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428079" y="2331720"/>
            <a:ext cx="1075073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Best metrics wins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Metrics calculated in the notebook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548640" y="429768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548640" y="42976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MAE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3383280" y="429768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3383280" y="42976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MSE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217920" y="429768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6217920" y="42976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RMSE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9052560" y="429768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9052560" y="42976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R² Score</a:t>
            </a:r>
            <a:endParaRPr lang="en-US" sz="20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 Comparison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371600"/>
          <a:ext cx="630936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554480"/>
                <a:gridCol w="146304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R² Score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Regression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0.670598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105972.796389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317054.903530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Decision Tree Regression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0.521965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115805.743664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381945.047990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Random Forest Regression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0.693497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101082.895292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305835.890885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9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132320" y="1280160"/>
            <a:ext cx="4507992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pic>
        <p:nvPicPr>
          <p:cNvPr id="6" name="Image 0" descr="Notebook output c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4968" y="1371600"/>
            <a:ext cx="4142697" cy="24688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23760" y="3886200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 R² comparison</a:t>
            </a:r>
            <a:endParaRPr lang="en-US" sz="1200" b="1" dirty="0"/>
          </a:p>
        </p:txBody>
      </p:sp>
      <p:sp>
        <p:nvSpPr>
          <p:cNvPr id="8" name="Shape 3"/>
          <p:cNvSpPr/>
          <p:nvPr/>
        </p:nvSpPr>
        <p:spPr>
          <a:xfrm>
            <a:off x="548640" y="4297680"/>
            <a:ext cx="30175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548640" y="4407408"/>
            <a:ext cx="3017520" cy="754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0.693497</a:t>
            </a:r>
            <a:endParaRPr lang="en-US" sz="3000" dirty="0"/>
          </a:p>
        </p:txBody>
      </p:sp>
      <p:sp>
        <p:nvSpPr>
          <p:cNvPr id="3" name="Text 5"/>
          <p:cNvSpPr txBox="1"/>
          <p:nvPr/>
        </p:nvSpPr>
        <p:spPr>
          <a:xfrm>
            <a:off x="640080" y="5148072"/>
            <a:ext cx="2834640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Best R² before tuning: Random Forest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3703320" y="4297680"/>
            <a:ext cx="3154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3703320" y="4407408"/>
            <a:ext cx="3154680" cy="754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101082.90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3794760" y="5148072"/>
            <a:ext cx="2971800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Lowest MAE: Random Forest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132320" y="4434840"/>
            <a:ext cx="450799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Lower MAE/RMSE and higher R² are better. Linear Regression is second; Decision Tree is weakest.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Hyperparameter Tuning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75488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434340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Model tuned: </a:t>
            </a:r>
            <a:r>
              <a:rPr lang="en-US" sz="1400" dirty="0">
                <a:solidFill>
                  <a:schemeClr val="tx1"/>
                </a:solidFill>
              </a:rPr>
              <a:t>Random Forest Regressor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Method: </a:t>
            </a:r>
            <a:r>
              <a:rPr lang="en-US" sz="1400" dirty="0">
                <a:solidFill>
                  <a:schemeClr val="tx1"/>
                </a:solidFill>
              </a:rPr>
              <a:t>GridSearchCV, cv=3, scoring R²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Parameters tested: 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n_estimators [100, 200]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max_depth [None, 10, 20]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min_samples_split [2, 5]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Best: </a:t>
            </a:r>
            <a:r>
              <a:rPr lang="en-US" sz="1400" dirty="0">
                <a:solidFill>
                  <a:schemeClr val="accent1"/>
                </a:solidFill>
              </a:rPr>
              <a:t>n_estimators=200, max_depth=None, min_samples_split=2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577840" y="1280160"/>
          <a:ext cx="6062472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496312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Before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After tuning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R² Score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0.693497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0.697233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101082.895292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100274.741592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RMSE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305835.890885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303966.175555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577840" y="3611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CV R² during grid search: 0.790315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4251960"/>
            <a:ext cx="685800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pic>
        <p:nvPicPr>
          <p:cNvPr id="9" name="Image 0" descr="Notebook output c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683" y="4297680"/>
            <a:ext cx="4865914" cy="1600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" y="5943600"/>
            <a:ext cx="6675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 original vs tuned Random Forest</a:t>
            </a:r>
            <a:endParaRPr lang="en-US" sz="1100" b="1" dirty="0"/>
          </a:p>
        </p:txBody>
      </p:sp>
      <p:sp>
        <p:nvSpPr>
          <p:cNvPr id="3" name="Shape 6"/>
          <p:cNvSpPr/>
          <p:nvPr/>
        </p:nvSpPr>
        <p:spPr>
          <a:xfrm>
            <a:off x="7680960" y="4251960"/>
            <a:ext cx="3959352" cy="1965960"/>
          </a:xfrm>
          <a:prstGeom prst="roundRect">
            <a:avLst>
              <a:gd name="adj" fmla="val 5581"/>
            </a:avLst>
          </a:prstGeom>
          <a:solidFill>
            <a:srgbClr val="FFF4EC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909560" y="4389120"/>
            <a:ext cx="352044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Tuned model selected because it is better on all three metrics. The gain is small (R² +0.0037).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Model &amp; Results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85216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28016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model: Tuned Random Forest Regression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2304288"/>
            <a:ext cx="1828800" cy="754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0.6972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44952"/>
            <a:ext cx="1645920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R² (test set)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68880" y="219456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468880" y="2304288"/>
            <a:ext cx="1920240" cy="754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100,274.74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044952"/>
            <a:ext cx="1737360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MAE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219456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480560" y="2304288"/>
            <a:ext cx="1920240" cy="754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303,966.18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044952"/>
            <a:ext cx="1737360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RMSE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794760"/>
            <a:ext cx="585216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393192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model was selected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389120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Highest R² of all models trained (0.697233)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Lowest MAE and RMSE of all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Improved over the untuned Random Forest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779260" y="2194560"/>
            <a:ext cx="4965192" cy="35661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pic>
        <p:nvPicPr>
          <p:cNvPr id="19" name="Image 0" descr="Notebook output c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641" y="2286000"/>
            <a:ext cx="4756430" cy="28346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870700" y="5120640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Notebook output: 5-fold R² (Random Forest)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870700" y="5394960"/>
            <a:ext cx="478231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Mean  R²: 0.809345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" y="335280"/>
            <a:ext cx="11929110" cy="59645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0" y="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Demonstration</a:t>
            </a:r>
            <a:endParaRPr lang="en-US" sz="3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880" y="591185"/>
            <a:ext cx="10322560" cy="283781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65" y="3331845"/>
            <a:ext cx="10281920" cy="2980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 idx="100"/>
          </p:nvPr>
        </p:nvSpPr>
        <p:spPr/>
        <p:txBody>
          <a:bodyPr/>
          <a:p>
            <a:r>
              <a:rPr lang="en-US"/>
              <a:t>TESTING: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9855" y="919480"/>
            <a:ext cx="7045325" cy="5323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Real-World Applications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9359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FaUserTi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8105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Used-car buyers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Check whether an asking price looks reasonable.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0065" y="1371600"/>
            <a:ext cx="359359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04385" y="164592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mage 1" descr="FaC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977" y="18105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4385" y="2423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Car sellers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04385" y="283464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Set a realistic listing price from car details.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9359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5" name="Image 2" descr="FaSt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105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423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Dealers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83464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Quote trade-in and resale prices consistently.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59359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0" name="Image 3" descr="FaHandshak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27939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920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Resellers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035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Spot cars priced below their estimated value.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046720" y="3840480"/>
            <a:ext cx="359359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21040" y="411480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0" name="Image 5" descr="FaBalanceSca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27939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8920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Negotiation &amp; valuation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3035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Give both sides a data-backed reference point.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4" name="Shape 5"/>
          <p:cNvSpPr/>
          <p:nvPr/>
        </p:nvSpPr>
        <p:spPr>
          <a:xfrm>
            <a:off x="4321175" y="3840480"/>
            <a:ext cx="359359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35" name="Shape 6"/>
          <p:cNvSpPr/>
          <p:nvPr/>
        </p:nvSpPr>
        <p:spPr>
          <a:xfrm>
            <a:off x="4595495" y="411480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37" name="Text 7"/>
          <p:cNvSpPr txBox="1"/>
          <p:nvPr/>
        </p:nvSpPr>
        <p:spPr>
          <a:xfrm>
            <a:off x="4595495" y="48920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800" b="1" dirty="0"/>
              <a:t>Financial Institutions</a:t>
            </a:r>
            <a:endParaRPr lang="en-US" altLang="en-US" sz="1800" b="1" dirty="0"/>
          </a:p>
        </p:txBody>
      </p:sp>
      <p:sp>
        <p:nvSpPr>
          <p:cNvPr id="38" name="Text 8"/>
          <p:cNvSpPr txBox="1"/>
          <p:nvPr/>
        </p:nvSpPr>
        <p:spPr>
          <a:xfrm>
            <a:off x="4595495" y="53035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Estimate car values for loan and financing decisions.</a:t>
            </a:r>
            <a:endParaRPr lang="en-US" altLang="en-US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4745990" y="4252595"/>
            <a:ext cx="468630" cy="29400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/>
              <a:t>🏦 </a:t>
            </a:r>
            <a:endParaRPr lang="zh-CN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0" cy="493776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Problem: estimate used-car prices from vehicle details</a:t>
            </a:r>
            <a:endParaRPr lang="en-US" sz="1700" dirty="0">
              <a:solidFill>
                <a:schemeClr val="tx1"/>
              </a:solidFill>
            </a:endParaRPr>
          </a:p>
          <a:p>
            <a:pPr indent="0">
              <a:spcAft>
                <a:spcPts val="800"/>
              </a:spcAft>
              <a:buSzPct val="100000"/>
              <a:buNone/>
            </a:pP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Approach: one-hot encoding with Linear Regression, Decision Tree and Random Forest</a:t>
            </a:r>
            <a:endParaRPr lang="en-US" sz="1700" dirty="0">
              <a:solidFill>
                <a:schemeClr val="tx1"/>
              </a:solidFill>
            </a:endParaRPr>
          </a:p>
          <a:p>
            <a:pPr indent="0">
              <a:spcAft>
                <a:spcPts val="800"/>
              </a:spcAft>
              <a:buSzPct val="100000"/>
              <a:buNone/>
            </a:pP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Best model: Tuned Random Forest </a:t>
            </a:r>
            <a:endParaRPr lang="en-US" sz="1700" dirty="0">
              <a:solidFill>
                <a:schemeClr val="tx1"/>
              </a:solidFill>
            </a:endParaRPr>
          </a:p>
          <a:p>
            <a:pPr indent="0">
              <a:spcAft>
                <a:spcPts val="800"/>
              </a:spcAft>
              <a:buSzPct val="100000"/>
              <a:buNone/>
            </a:pPr>
            <a:endParaRPr lang="en-US" sz="17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Final test results</a:t>
            </a:r>
            <a:r>
              <a:rPr lang="en-US" sz="1700" dirty="0">
                <a:solidFill>
                  <a:schemeClr val="tx1"/>
                </a:solidFill>
              </a:rPr>
              <a:t>: </a:t>
            </a:r>
            <a:endParaRPr lang="en-US" sz="17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R² 0.6972</a:t>
            </a:r>
            <a:endParaRPr lang="en-US" sz="17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 MAE 100,274.74</a:t>
            </a:r>
            <a:endParaRPr lang="en-US" sz="17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 RMSE 303,966.18</a:t>
            </a:r>
            <a:endParaRPr lang="en-US" sz="17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indent="0">
              <a:spcAft>
                <a:spcPts val="800"/>
              </a:spcAft>
              <a:buSzPct val="100000"/>
              <a:buNone/>
            </a:pPr>
            <a:endParaRPr lang="en-US" sz="1700" dirty="0"/>
          </a:p>
          <a:p>
            <a:pPr indent="0">
              <a:spcAft>
                <a:spcPts val="800"/>
              </a:spcAft>
              <a:buSzPct val="100000"/>
              <a:buNone/>
            </a:pP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766560" y="1280160"/>
            <a:ext cx="4873752" cy="4937760"/>
          </a:xfrm>
          <a:prstGeom prst="roundRect">
            <a:avLst>
              <a:gd name="adj" fmla="val 2251"/>
            </a:avLst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040880" y="14173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8288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</a:rPr>
              <a:t>Ideas only, not completed work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286000"/>
            <a:ext cx="429768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Larger, more diverse dataset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More vehicle features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Advanced ensemble models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Broader hyperparameter search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Real-time market data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Improved web deployment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val">
  <a:themeElements>
    <a:clrScheme name="Carval">
      <a:dk1>
        <a:srgbClr val="1B1F2A"/>
      </a:dk1>
      <a:lt1>
        <a:srgbClr val="FFFFFF"/>
      </a:lt1>
      <a:dk2>
        <a:srgbClr val="2B3445"/>
      </a:dk2>
      <a:lt2>
        <a:srgbClr val="F3F5F8"/>
      </a:lt2>
      <a:accent1>
        <a:srgbClr val="E8590C"/>
      </a:accent1>
      <a:accent2>
        <a:srgbClr val="0F766E"/>
      </a:accent2>
      <a:accent3>
        <a:srgbClr val="5B6577"/>
      </a:accent3>
      <a:accent4>
        <a:srgbClr val="D9DEE6"/>
      </a:accent4>
      <a:accent5>
        <a:srgbClr val="B7410E"/>
      </a:accent5>
      <a:accent6>
        <a:srgbClr val="8A94A6"/>
      </a:accent6>
      <a:hlink>
        <a:srgbClr val="E8590C"/>
      </a:hlink>
      <a:folHlink>
        <a:srgbClr val="5B6577"/>
      </a:folHlink>
    </a:clrScheme>
    <a:fontScheme name="Carv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5274</Words>
  <Application>WPS Presentation</Application>
  <PresentationFormat>On-screen Show (16:9)</PresentationFormat>
  <Paragraphs>505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Microsoft YaHei</vt:lpstr>
      <vt:lpstr>Arial Unicode MS</vt:lpstr>
      <vt:lpstr>WPS</vt:lpstr>
      <vt:lpstr>PowerPoint 演示文稿</vt:lpstr>
      <vt:lpstr>Problem Statement</vt:lpstr>
      <vt:lpstr>Dataset &amp; Data Source</vt:lpstr>
      <vt:lpstr>Exploratory Data Analysis</vt:lpstr>
      <vt:lpstr>Data Preprocessing</vt:lpstr>
      <vt:lpstr>Feature Engineering / Selection</vt:lpstr>
      <vt:lpstr>Machine Learning Models Used</vt:lpstr>
      <vt:lpstr>Training &amp; Evaluation Workflow</vt:lpstr>
      <vt:lpstr>Model Comparison</vt:lpstr>
      <vt:lpstr>Hyperparameter Tuning</vt:lpstr>
      <vt:lpstr>Final Model &amp; Results</vt:lpstr>
      <vt:lpstr>Model Persistence</vt:lpstr>
      <vt:lpstr>PowerPoint 演示文稿</vt:lpstr>
      <vt:lpstr>Prediction / Demonstration</vt:lpstr>
      <vt:lpstr>PowerPoint 演示文稿</vt:lpstr>
      <vt:lpstr>Real-World Applications</vt:lpstr>
      <vt:lpstr>Conclusion &amp; Future Scope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CARVAL-PREDICTOR</dc:title>
  <dc:creator>PptxGenJS</dc:creator>
  <dc:subject>PptxGenJS Presentation</dc:subject>
  <cp:lastModifiedBy>SAI</cp:lastModifiedBy>
  <cp:revision>7</cp:revision>
  <dcterms:created xsi:type="dcterms:W3CDTF">2026-10-08T07:07:00Z</dcterms:created>
  <dcterms:modified xsi:type="dcterms:W3CDTF">2026-10-08T09:01:19Z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1033-12.1.0.28096</vt:lpwstr>
  </property>
  <property fmtid="{D5CDD505-2E9C-101B-9397-08002B2CF9AE}" pid="3" name="ICV">
    <vt:lpwstr>80A49BA3721A461BA34AC60A720D26C5_13</vt:lpwstr>
  </property>
</Properties>
</file>